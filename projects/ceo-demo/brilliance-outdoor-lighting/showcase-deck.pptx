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Call Is a Lost Job.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office manager answers 60% of calls.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40%? Gone.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926080" cy="1828800"/>
          </a:xfrm>
          <a:prstGeom prst="rect">
            <a:avLst>
              <a:gd name="adj" fmla="val 7500"/>
            </a:avLst>
          </a:prstGeom>
          <a:solidFill>
            <a:srgbClr val="2222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3108960"/>
            <a:ext cx="2926080" cy="1828800"/>
          </a:xfrm>
          <a:prstGeom prst="rect">
            <a:avLst>
              <a:gd name="adj" fmla="val 7500"/>
            </a:avLst>
          </a:prstGeom>
          <a:solidFill>
            <a:srgbClr val="222244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02336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job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3108960"/>
            <a:ext cx="2926080" cy="1828800"/>
          </a:xfrm>
          <a:prstGeom prst="rect">
            <a:avLst>
              <a:gd name="adj" fmla="val 7500"/>
            </a:avLst>
          </a:prstGeom>
          <a:solidFill>
            <a:srgbClr val="2222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31520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ServiceTitan Industry Benchmarks,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Every Call Was Captured?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listens to every call — answered or recorded —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takes action automatically.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108960" cy="2377440"/>
          </a:xfrm>
          <a:prstGeom prst="rect">
            <a:avLst>
              <a:gd name="adj" fmla="val 5769"/>
            </a:avLst>
          </a:prstGeom>
          <a:solidFill>
            <a:srgbClr val="222244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926080"/>
            <a:ext cx="914400" cy="9144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Calls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or voicemail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34747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94560"/>
                </a:solidFill>
              </a:rPr>
              <a:t>➤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931920" y="2743200"/>
            <a:ext cx="3108960" cy="2377440"/>
          </a:xfrm>
          <a:prstGeom prst="rect">
            <a:avLst>
              <a:gd name="adj" fmla="val 5769"/>
            </a:avLst>
          </a:prstGeom>
          <a:solidFill>
            <a:srgbClr val="2222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926080"/>
            <a:ext cx="914400" cy="9144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3192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Listens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&amp; extracts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34747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94560"/>
                </a:solidFill>
              </a:rPr>
              <a:t>➤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315200" y="2743200"/>
            <a:ext cx="3108960" cy="2377440"/>
          </a:xfrm>
          <a:prstGeom prst="rect">
            <a:avLst>
              <a:gd name="adj" fmla="val 5769"/>
            </a:avLst>
          </a:prstGeom>
          <a:solidFill>
            <a:srgbClr val="22224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2926080"/>
            <a:ext cx="914400" cy="9144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Follow-up, CRM, alerts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Call. Real Data.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homeowner calls about patio + driveway lighting. Here's a snippet: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4389120"/>
          </a:xfrm>
          <a:prstGeom prst="rect">
            <a:avLst>
              <a:gd name="adj" fmla="val 3125"/>
            </a:avLst>
          </a:prstGeom>
          <a:solidFill>
            <a:srgbClr val="2222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finished building a patio and we're looking at getting lighting done. Our neighbors — the Thompsons — had y'all do their yard and it looks amazing.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you're looking at patio lighting mostly?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Patio for sure, and path lights down the driveway — it's really dark. And uplighting on three big live oaks in the front.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get it done before June — we're throwing a big backyard party for my daughter's graduation.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 budget range in mind?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in the five to eight thousand range?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47 sec  |  Inbound  |  Tuesday 10:23 AM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Extracts — Automatically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that 2-minute call, the AI produces this in under 10 seconds: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206240"/>
          </a:xfrm>
          <a:prstGeom prst="rect">
            <a:avLst>
              <a:gd name="adj" fmla="val 3261"/>
            </a:avLst>
          </a:prstGeom>
          <a:solidFill>
            <a:srgbClr val="2222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Henderson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212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214-555-0847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8833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68833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4521 Oak Hollow Dr, Frisco TX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6382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31638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family (past client)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3931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6393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Patio (8), driveway paths (12), tree uplights (6)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41148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$5,000 - $8,000 (confirmed)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5902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4590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June — daughter's graduation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0657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50657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consultation Thursday 2 PM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554480"/>
            <a:ext cx="5486400" cy="1920240"/>
          </a:xfrm>
          <a:prstGeom prst="rect">
            <a:avLst>
              <a:gd name="adj" fmla="val 7143"/>
            </a:avLst>
          </a:prstGeom>
          <a:solidFill>
            <a:srgbClr val="222244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/ 100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896112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A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6217920" y="3657600"/>
            <a:ext cx="5486400" cy="2103120"/>
          </a:xfrm>
          <a:prstGeom prst="rect">
            <a:avLst>
              <a:gd name="adj" fmla="val 6522"/>
            </a:avLst>
          </a:prstGeom>
          <a:solidFill>
            <a:srgbClr val="222244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Signals Detected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4206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Budget ready ($5-8K confirmed)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4572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Emotional deadline (graduation party)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4937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Referral from happy past client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5303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hesitation on consultation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 — Without Lifting a Finger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triggered automatically within 2 minutes of the call ending: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822960"/>
          </a:xfrm>
          <a:prstGeom prst="rect">
            <a:avLst>
              <a:gd name="adj" fmla="val 11111"/>
            </a:avLst>
          </a:prstGeom>
          <a:solidFill>
            <a:srgbClr val="22224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91640"/>
            <a:ext cx="1280160" cy="548640"/>
          </a:xfrm>
          <a:prstGeom prst="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Text to Sarah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19385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"Thanks for calling Brilliance! Your consultation is confirmed for Thursday, March 6 at 2:00 PM."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1247120" cy="822960"/>
          </a:xfrm>
          <a:prstGeom prst="rect">
            <a:avLst>
              <a:gd name="adj" fmla="val 11111"/>
            </a:avLst>
          </a:prstGeom>
          <a:solidFill>
            <a:srgbClr val="222244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606040"/>
            <a:ext cx="1280160" cy="548640"/>
          </a:xfrm>
          <a:prstGeom prst="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 to Jake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28529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"Hot lead — Sarah Henderson, $5-8K patio + driveway, Frisco. Close probability: 85%. Assign your best rep."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47120" cy="822960"/>
          </a:xfrm>
          <a:prstGeom prst="rect">
            <a:avLst>
              <a:gd name="adj" fmla="val 11111"/>
            </a:avLst>
          </a:prstGeom>
          <a:solidFill>
            <a:srgbClr val="22224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520440"/>
            <a:ext cx="1280160" cy="548640"/>
          </a:xfrm>
          <a:prstGeom prst="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Entry Created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03120" y="37673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lead profile with score (92/A), contact info, scope, budget, referral source, consultation date.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11247120" cy="822960"/>
          </a:xfrm>
          <a:prstGeom prst="rect">
            <a:avLst>
              <a:gd name="adj" fmla="val 11111"/>
            </a:avLst>
          </a:prstGeom>
          <a:solidFill>
            <a:srgbClr val="22224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434840"/>
            <a:ext cx="1280160" cy="548640"/>
          </a:xfrm>
          <a:prstGeom prst="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34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Day-Before Reminder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03120" y="46817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Sarah + assigned rep: "Your consultation is tomorrow at 2 PM."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212080"/>
            <a:ext cx="11247120" cy="822960"/>
          </a:xfrm>
          <a:prstGeom prst="rect">
            <a:avLst>
              <a:gd name="adj" fmla="val 11111"/>
            </a:avLst>
          </a:prstGeom>
          <a:solidFill>
            <a:srgbClr val="2222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5349240"/>
            <a:ext cx="1280160" cy="548640"/>
          </a:xfrm>
          <a:prstGeom prst="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349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0312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Follow-Up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03120" y="55961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proposal sent within 48 hours of consultation: "Hey Jake — Sarah's an A-lead. Want me to draft the proposal?"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3200400"/>
          </a:xfrm>
          <a:prstGeom prst="rect">
            <a:avLst>
              <a:gd name="adj" fmla="val 4286"/>
            </a:avLst>
          </a:prstGeom>
          <a:solidFill>
            <a:srgbClr val="2222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40% of calls missed — no voicemail follow-up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Customer info on sticky notes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151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"I'll call them back" (never does)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083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lead scoring — treat every call the same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reminders — appointments forgotten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idea how many leads slip through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486400" cy="3200400"/>
          </a:xfrm>
          <a:prstGeom prst="rect">
            <a:avLst>
              <a:gd name="adj" fmla="val 4286"/>
            </a:avLst>
          </a:prstGeom>
          <a:solidFill>
            <a:srgbClr val="2222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call captured — answered or recorded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221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lead profile auto-generated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6151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Follow-up texts sent in under 2 minutes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0083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scores + grades every lead automatically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401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Day-before reminders to customer + rep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48-hour watchdog catches dropped balls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11247120" cy="1463040"/>
          </a:xfrm>
          <a:prstGeom prst="rect">
            <a:avLst>
              <a:gd name="adj" fmla="val 9375"/>
            </a:avLst>
          </a:prstGeom>
          <a:solidFill>
            <a:srgbClr val="0F346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Revenue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212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recovered leads/week  x  $5K avg job  x  30% close 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8463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 / month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AI Is Just the Start.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AI Partner handles your entire back office: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86400" cy="1188720"/>
          </a:xfrm>
          <a:prstGeom prst="rect">
            <a:avLst>
              <a:gd name="adj" fmla="val 9231"/>
            </a:avLst>
          </a:prstGeom>
          <a:solidFill>
            <a:srgbClr val="22224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captured, transcribed, and actioned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486400" cy="1188720"/>
          </a:xfrm>
          <a:prstGeom prst="rect">
            <a:avLst>
              <a:gd name="adj" fmla="val 9231"/>
            </a:avLst>
          </a:prstGeom>
          <a:solidFill>
            <a:srgbClr val="2222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200400"/>
            <a:ext cx="822960" cy="8229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✎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consultation notes in minutes, not hours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5486400" cy="1188720"/>
          </a:xfrm>
          <a:prstGeom prst="rect">
            <a:avLst>
              <a:gd name="adj" fmla="val 9231"/>
            </a:avLst>
          </a:prstGeom>
          <a:solidFill>
            <a:srgbClr val="2222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572000"/>
            <a:ext cx="822960" cy="8229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✉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937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sequences that never let a lead go cold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5720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1645920"/>
            <a:ext cx="5486400" cy="1188720"/>
          </a:xfrm>
          <a:prstGeom prst="rect">
            <a:avLst>
              <a:gd name="adj" fmla="val 9231"/>
            </a:avLst>
          </a:prstGeom>
          <a:solidFill>
            <a:srgbClr val="222244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828800"/>
            <a:ext cx="822960" cy="8229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☰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0664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Scheduling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 assignments with materials lists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0" y="18288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5486400" cy="1188720"/>
          </a:xfrm>
          <a:prstGeom prst="rect">
            <a:avLst>
              <a:gd name="adj" fmla="val 9231"/>
            </a:avLst>
          </a:prstGeom>
          <a:solidFill>
            <a:srgbClr val="2222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3200400"/>
            <a:ext cx="822960" cy="8229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Referrals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0664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Post-install requests sent automatically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789920" y="32004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217920" y="4389120"/>
            <a:ext cx="5486400" cy="1188720"/>
          </a:xfrm>
          <a:prstGeom prst="rect">
            <a:avLst>
              <a:gd name="adj" fmla="val 9231"/>
            </a:avLst>
          </a:prstGeom>
          <a:solidFill>
            <a:srgbClr val="2222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0" y="4572000"/>
            <a:ext cx="822960" cy="8229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■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06640" y="4937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revenue, and crew utilization at a glance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789920" y="45720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50-80% of back-office work — automated.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This Running</a:t>
            </a:r>
            <a:endParaRPr lang="en-US" sz="4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Business?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to your workflows. Live in 2 weeks.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931920" y="4114800"/>
            <a:ext cx="4297680" cy="822960"/>
          </a:xfrm>
          <a:prstGeom prst="rect">
            <a:avLst>
              <a:gd name="adj" fmla="val 13333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4114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53035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Omnia Intelligence 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AI Agent — Landscape Lighting Demo</dc:title>
  <dc:subject>PptxGenJS Presentation</dc:subject>
  <dc:creator>Omnia Intelligence AI</dc:creator>
  <cp:lastModifiedBy>Omnia Intelligence AI</cp:lastModifiedBy>
  <cp:revision>1</cp:revision>
  <dcterms:created xsi:type="dcterms:W3CDTF">2026-03-08T04:50:52Z</dcterms:created>
  <dcterms:modified xsi:type="dcterms:W3CDTF">2026-03-08T04:50:52Z</dcterms:modified>
</cp:coreProperties>
</file>